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B49"/>
                </a:solidFill>
              </a:defRPr>
            </a:pPr>
            <a:r>
              <a:t>UNIVERSIDADE FEDERAL DE CAMPINA GRANDE</a:t>
            </a:r>
          </a:p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CENTRO DE HUMANIDADES</a:t>
            </a:r>
          </a:p>
          <a:p>
            <a:pPr algn="ctr">
              <a:defRPr sz="1300" b="1">
                <a:solidFill>
                  <a:srgbClr val="0E7490"/>
                </a:solidFill>
              </a:defRPr>
            </a:pPr>
            <a:r>
              <a:t>UNIDADE ACADÊMICA DE ADMINISTRAÇÃO E CONTABILIDADE (UAAC)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219456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8998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Finanças Descentralizadas: A avaliação do liquid staking via Lido DAO como alternativa de investimento em ativos digitais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297680"/>
            <a:ext cx="761969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434840"/>
            <a:ext cx="72539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Autor: Matheus Henrique Da Costa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Orientador(a): [Nome do Orientador / Orientadora]</a:t>
            </a:r>
          </a:p>
          <a:p>
            <a:pPr algn="ctr">
              <a:defRPr sz="1300" b="1">
                <a:solidFill>
                  <a:srgbClr val="0E7490"/>
                </a:solidFill>
              </a:defRPr>
            </a:pPr>
            <a:r>
              <a:t>Novembro/2023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2: INTRODUÇÃO (1/3)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Contextualização: A Evolução do Ethereum &amp; O Staking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O Cenário da Rede Ethereum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Consolidação como principal infraestrutura para contratos inteligentes e Finanças Descentralizadas (SCHÄR, 2021).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 transição 'The Merge' (2022): Mudança do consenso Proof-of-Work (PoW) para Proof-of-Stake (PoS).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Substituição de máquinas com alto consumo energético por bloqueio financeiro de capital (ETHEREUM FOUNDATION, 2022).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 validação de blocos passa a depender do travamento (staking) de moedas Ether (ETH).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A Trava de Liquidez do Staking Direto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Aporte Mínimo Elevado: Exigência de 32 ETH (aprox. R$ 350 mil+) para rodar um nó validador próprio.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Restrição de Iliquidez: Ativos imobilizados no contrato de depósitos sem utilização concorrente.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Complexidade Técnica: Necessidade de infraestrutura de servidores 24/7 e risco de penalidades operacionais.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Surgimento do Liquid Staking: Protocolos criados para restaurar a liquidez via tokens derivativos representativos.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3: INTRODUÇÃO (2/3)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Problemática &amp; Pergunta de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O Trade-off do Liquid Staking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Facilidade vs Novas Camadas de Risco: O liquid staking permite qualquer aporte e entrega o token stETH (Lido DAO).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Risco de Base (Liquid Staking Basis): O token derivativo stETH pode negociar com deságio/ágio no mercado secundário (SCHARNOWSKI; JAHANSHAHLOO, 2025).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Exposição a Smart Contracts: Riscos de bugs e exploits nos contratos do protocolo (HARVEY et al., 2021).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Riscos de Consenso: Penalidades de slashing compartilhadas no pool.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AE6FD"/>
                </a:solidFill>
              </a:defRPr>
            </a:pPr>
            <a:r>
              <a:t>❓ PERGUNTA DE PESQUISA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“Quais são os retornos, riscos e vantagens do liquid staking via Lido DAO em comparação ao staking direto no Ethereum, com base em dados históricos e métricas públicas?”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4: INTRODUÇÃO (3/3)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Objetivos do Trabalho &amp; Justificativa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🎯 Objetivos da Pesquisa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OBJETIVO GERAL: Avaliar, com base em dados históricos e métricas públicas, os retornos, riscos e vantagens do liquid staking via Lido DAO como alternativa de investimento.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ESPECÍFICO 1: Levantar o histórico de rendimento (APR/APY) do stETH comparando-o ao staking direto.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ESPECÍFICO 2: Analisar a volatilidade e os riscos de desvinculação (depeg) do stETH em relação ao ETH.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ESPECÍFICO 3: Mapear os riscos e vantagens estruturais em relatórios técnicos e literatura.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ESPECÍFICO 4: Discutir implicações para estratégias de investimento.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💡 Justificativa Científica e Prática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Aceleração do Mercado DeFi: Crescimento exponencial de protocolos de liquidez e restaking (LSDfi).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Lacuna Científica: Escassez de pesquisas quantitativas empíricas testando a paridade stETH/ETH em séries temporais longas.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Relevância para Investidores: Orientação clara sobre custos de oportunidade, taxa de serviço de 10% da Lido e depeg risk.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Sem Coleta Primária: Análise fundamentada em dados públicos auditáveis on-chain.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5: FUNDAMENTAÇÃO TEÓRICA (1/4)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Infraestrutura Tecnológica: Blockchain &amp;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Livro-Razão Imutável &amp; Turing-Completeness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Blockchain: Protocolo distribuído e imutável que registra transações sem autoridade central (HARVEY et al., 2021).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Ethereum vs Bitcoin: Enquanto o Bitcoin opera com lógica restrita, o Ethereum é Turing-complete (BUTERIN, 2014).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Ethereum Virtual Machine (EVM): Ambiente global que executa códigos descentralizados escritos em Solidity.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Automação Financeira: Permite a criação de aplicações autônomas sem custodiante tradicional.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Smart Contracts &amp; Analogia de Szabo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Definição de Smart Contracts: Programas autoexecutáveis implantados na blockchain que operam com determinismo (SCHÄR, 2021).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Analogia da Vending Machine: Execução automática assim que as condições pré-programadas são atendidas.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Eliminação de Intermediários: Impossibilidade de interferência externa ou inadimplência fiduciária.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Infraestrutura da Lido: Todo o fluxo do protocolo é gerido por contratos inteligentes auditados (JIN et al., 2025).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6: FUNDAMENTAÇÃO TEÓRICA (2/4)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Ecossistema DeFi &amp; Economia do Staking 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Arquitetura em Camadas DeFi (Schär, 2021)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Camada de Liquidação (Settlement): Blockchain Ethereum e token Ether (ETH).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Camada de Ativos (Asset Layer): Tokens nativos e derivativos (stETH).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Camada de Protocolos (Protocol Layer): Lido DAO, Uniswap, Curve, Aave.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Componibilidade ('Legos Financeiros'): Integração de tokens derivativos em diferentes protocolos.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Fontes de Rendimento no Proof-of-Stake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1. Camada de Consenso: Emissão inflacionária do protocolo por propor e atestar blocos.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2. Camada de Execução (Priority Fees): Taxas pagas pelos usuários para priorizar transações.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3. MEV (Maximal Extractable Value): Retorno adicional obtido pela reordenação estratégica de transações em blocos.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Compensação pelo Capital: Recompensa pelo travamento de ativos e risco operacional.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7: FUNDAMENTAÇÃO TEÓRICA (3/4)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Liquid Staking &amp; O Protocolo Lido DAO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7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Mecanismo Operacional da Lido DAO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Pool de Agregação: Permite depósitos de qualquer quantia de ETH, sem limite de 32 ETH (LIDO DAO, 2020).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Emissão de Derivativo: O usuário recebe instantaneamente tokens stETH na proporção 1:1 com o ETH depositado.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Delegação de Validadores: A DAO distribui o stake entre operadores de nós profissionais credenciados.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Taxa de Serviço de 10%: Cobrada sobre os rendimentos gerados (5% operadores e 5% tesouraria da DAO).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Mecânica de Tokens: Rebasing (stETH)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Mecanismo de Rebase: O saldo de stETH na carteira do investidor ajusta-se diariamente (aumenta) refletindo rendimentos.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Manutenção da Cotação Nominal: Busca manter a proporção nominal de 1 stETH = 1 ETH.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Diferença para Reward-Bearing: Tokens reward-bearing (wstETH) aumentam o preço; o stETH aumenta o saldo de tokens.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Liquidez Secundária: Permite negociação em mercado secundário sem aguardar fila de saque.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8: FUNDAMENTAÇÃO TEÓRICA (4/4)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Matriz de Riscos em Liquid Staking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1. Risco de Contrato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Vulnerabilidades em código Solidity (HARVEY et al., 2021).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Auditorias (ChainSecurity) mitigam mas não eliminam riscos.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Imutabilidade impede reversão de perdas.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1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2. Risco de Depeg (Base)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Desvio de paridade stETH/ETH em mercado secundário (SCHARNOWSKI, 2025).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Sensível a pânicos e choques de liquidez.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Risco de liquidação em posições alavancadas.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19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3. Slashing &amp; Consenso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Penalidades por inatividade ou conduta maliciosa (double signing).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Riscos correlacionados: falhas simultâneas em múltiplos nós.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Perda de capital no pool (CARRÉ; GABRIEL,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9: METODOLOGIA (1/2)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Metodologia: Enquadramento &amp; Dados Secundários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9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Classificação da Pesquisa (ABNT)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Natureza: Exploratória e Descritiva com abordagem quantitativa e análise documental.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Recorte Temporal: 01 de janeiro de 2022 a 31 de maio de 2026 (capta Pré-Merge, Shapella 2023, Dencun 2024 e maturidade LSDfi).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Isenção de CEP: Utilização exclusiva de dados secundários de acesso público sem seres humanos.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Reprodutibilidade: Scripts em Python documentados e auditáveis no Apêndice.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Bases de Dados Secundários On-Chain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DefiLlama API: Preços stETH/ETH, TVL histórico, Market Share de LSDs e rendimentos históricos (Yields API).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CoinGecko API: Cotações em USD do Ether e volume diário negociado.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Beaconcha.in API: Dados da camada de consenso (total ETH em staking, Staking Ratio).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Dune Analytics: Painéis de validação para taxas brutas do staking direto e distribuição de validadores.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10: METODOLOGIA (2/2)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Esteira de Automação Python &amp; Formulação de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10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Esteira de Scripts em Python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01_coleta_depeg_steth_eth.py: Captura de cotações e cálculo da razão Ratio_t.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02_coleta_preco_eth_usd.py: Coleta de histórico macro de preços ETH/USD.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03_coleta_apr_lido.py: Extração de retorno histórico APR/APY.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04_tratamento_e_metricas.py: Limpeza, unificação temporal (YYYY-MM-DD) e tratamento de ausentes.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05_geracao_graficos_tabelas.py: Compilação estatística e figuras de alta resolução.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Formulação Matemática das Métricas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1. Liquid Staking Basis / Depeg:</a:t>
            </a:r>
            <a:br/>
            <a:r>
              <a:t>   Depeg_t = [(P_stETH,t - P_ETH,t) / P_ETH,t] * 100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2. Volatilidade Anualizada:</a:t>
            </a:r>
            <a:br/>
            <a:r>
              <a:t>   σ_anual = σ_diario * √365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3. Rendimento Líquido Comparativo (Spread):</a:t>
            </a:r>
            <a:br/>
            <a:r>
              <a:t>   ΔYield_t = APR_stETH,t - APR_direto,t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4. Mensuração do custo de oportunidade da taxa de 10% retida pela Lido DAO.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BAE6FD"/>
                </a:solidFill>
              </a:defRPr>
            </a:pPr>
            <a:r>
              <a:t>SLIDE 11: REFERÊNCIAS (ABNT)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Referências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82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UFCG | UAAC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Finanças Descentralizadas: A avaliação do liquid staking via Lido DAO | Matheus Henrique Da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E7490"/>
                </a:solidFill>
              </a:defRPr>
            </a:pPr>
            <a:r>
              <a:t>Slide 11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10728655" cy="7315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19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B49"/>
                </a:solidFill>
              </a:defRPr>
            </a:pPr>
            <a:r>
              <a:t>Fontes Principais Citadas no Projeto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BINANCE RESEARCH. Data Insights: Liquid Staking and LSDfi Heat Up. Autoria de Keng Ying Sim. 2023.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BUTERIN, Vitalik. Ethereum: A Next-Generation Smart Contract and Decentralized Application Platform. Whitepaper, 2014.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CARRÉ, Sylvain; GABRIEL, Franck. Liquid Staking: When Does It Help? SSRN Electronic Journal, 2025.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CHAINSECURITY. Code Assessment of the LIP-23: Rebase Check Smart Contracts. Public report for Lido, 2024.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ETHEREUM FOUNDATION. A Fusão (The Merge). 2024. Disponível em: https://ethereum.org/pt-br/roadmap/merge/.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HARVEY, Campbell R.; RAMACHANDRAN, Ashwin; SANTORO, Joey. DeFi and the Future of Finance. Hoboken: John Wiley &amp; Sons, 2021.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LIDO. Lido: Ethereum Liquid Staking. Whitepaper. Out. 2020. Disponível em: https://lido.fi/.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SCHARNOWSKI, Stefan; JAHANSHAHLOO, Hossein. The Economics of Liquid Staking Derivatives: Basis Determinants and Price Discovery. Journal of Futures Markets, v. 45, n. 1, p. 91–117, 2025.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SCHÄR, Fabian. Decentralized Finance: On Blockchain- and Smart Contract-Based Financial Markets. Federal Reserve Bank of St. Louis Review, v. 103, n. 2, p. 153–174,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